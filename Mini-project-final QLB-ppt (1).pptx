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300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14" r:id="rId10"/>
    <p:sldId id="313" r:id="rId11"/>
    <p:sldId id="311" r:id="rId12"/>
    <p:sldId id="312" r:id="rId13"/>
    <p:sldId id="331" r:id="rId14"/>
    <p:sldId id="315" r:id="rId15"/>
    <p:sldId id="316" r:id="rId16"/>
    <p:sldId id="317" r:id="rId17"/>
    <p:sldId id="318" r:id="rId18"/>
    <p:sldId id="319" r:id="rId19"/>
    <p:sldId id="320" r:id="rId20"/>
    <p:sldId id="335" r:id="rId21"/>
    <p:sldId id="336" r:id="rId22"/>
    <p:sldId id="337" r:id="rId23"/>
    <p:sldId id="323" r:id="rId24"/>
    <p:sldId id="321" r:id="rId25"/>
    <p:sldId id="322" r:id="rId26"/>
    <p:sldId id="333" r:id="rId27"/>
    <p:sldId id="334" r:id="rId28"/>
    <p:sldId id="338" r:id="rId29"/>
    <p:sldId id="33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96AA9-749D-43C1-8182-74107BED77D8}" v="34" dt="2026-04-12T13:56:58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ABADA-8C84-49CA-85EF-ED2CE3E9932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D4E0C-F351-4985-B6BD-C2B98B21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9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8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4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98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88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80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18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34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27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2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1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369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42FC861-D0C6-407D-8063-F11C51A2122A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388F99-01BD-43A7-ACF7-8114B9CC5C8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65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925" y="2618337"/>
            <a:ext cx="10575052" cy="1498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667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1924" y="3762278"/>
            <a:ext cx="6356152" cy="866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253"/>
              </a:lnSpc>
            </a:pPr>
            <a:endParaRPr lang="en-US" sz="1420" dirty="0"/>
          </a:p>
        </p:txBody>
      </p:sp>
      <p:sp>
        <p:nvSpPr>
          <p:cNvPr id="6" name="Text 3"/>
          <p:cNvSpPr/>
          <p:nvPr/>
        </p:nvSpPr>
        <p:spPr>
          <a:xfrm>
            <a:off x="721719" y="4949429"/>
            <a:ext cx="109141" cy="81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627"/>
              </a:lnSpc>
            </a:pPr>
            <a:r>
              <a:rPr lang="en-US" sz="627" dirty="0">
                <a:solidFill>
                  <a:srgbClr val="3C3838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vj</a:t>
            </a:r>
            <a:endParaRPr lang="en-US" sz="627" dirty="0"/>
          </a:p>
        </p:txBody>
      </p:sp>
      <p:sp>
        <p:nvSpPr>
          <p:cNvPr id="7" name="Text 4"/>
          <p:cNvSpPr/>
          <p:nvPr/>
        </p:nvSpPr>
        <p:spPr>
          <a:xfrm>
            <a:off x="1010942" y="4832153"/>
            <a:ext cx="2050951" cy="316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460"/>
              </a:lnSpc>
            </a:pPr>
            <a:endParaRPr lang="en-US" sz="1753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" y="36614"/>
            <a:ext cx="153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200" tIns="38100" rIns="76200" bIns="38100" numCol="1" anchor="ctr" anchorCtr="0" compatLnSpc="1">
            <a:spAutoFit/>
          </a:bodyPr>
          <a:lstStyle/>
          <a:p>
            <a:endParaRPr lang="en-IN" sz="1500"/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519" y="587157"/>
            <a:ext cx="611188" cy="46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212272"/>
            <a:ext cx="12192000" cy="190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200" tIns="38100" rIns="76200" bIns="3810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61981"/>
            <a:r>
              <a:rPr lang="en-US" alt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761981"/>
            <a:r>
              <a:rPr lang="en-US" alt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College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761981"/>
            <a:r>
              <a:rPr lang="en-US" altLang="en-US" sz="1333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Autonomous Institution</a:t>
            </a:r>
            <a:endParaRPr lang="en-US" altLang="en-US" sz="13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761981"/>
            <a:r>
              <a:rPr lang="en-US" altLang="en-US" sz="1333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Ankushapur</a:t>
            </a:r>
            <a:r>
              <a:rPr lang="en-US" altLang="en-US" sz="1333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(V), </a:t>
            </a:r>
            <a:r>
              <a:rPr lang="en-US" altLang="en-US" sz="1333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Ghatkesar</a:t>
            </a:r>
            <a:r>
              <a:rPr lang="en-US" altLang="en-US" sz="1333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(M), </a:t>
            </a:r>
            <a:r>
              <a:rPr lang="en-US" altLang="en-US" sz="1333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Medchal</a:t>
            </a:r>
            <a:r>
              <a:rPr lang="en-US" altLang="en-US" sz="1333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Dist. – 501 301</a:t>
            </a:r>
            <a:endParaRPr lang="en-US" altLang="en-US" sz="13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761981"/>
            <a:endParaRPr lang="en-US" altLang="en-US" sz="1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761981"/>
            <a:r>
              <a:rPr lang="en-US" alt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CSE(ARTIFICIAL INTELLIGENCE &amp; MACHINE LEARNING)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2353155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0580" y="4159674"/>
            <a:ext cx="10855960" cy="18144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-75351">
              <a:spcAft>
                <a:spcPts val="667"/>
              </a:spcAft>
            </a:pPr>
            <a:r>
              <a:rPr lang="en-US" sz="1500" b="1" dirty="0">
                <a:solidFill>
                  <a:srgbClr val="59595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1600" b="1" dirty="0">
                <a:solidFill>
                  <a:srgbClr val="59595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GUIDANCE OF</a:t>
            </a: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                                                     TEAM MEMBERS:	         </a:t>
            </a:r>
          </a:p>
          <a:p>
            <a:pPr indent="-75351">
              <a:spcAft>
                <a:spcPts val="667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Mrs. B. Suvidha                                                                                           Mohammad Sohail Hussain    (23AG1A6643)</a:t>
            </a:r>
          </a:p>
          <a:p>
            <a:pPr indent="-75351" algn="ctr">
              <a:spcAft>
                <a:spcPts val="667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Assistant Professor                                                                                                  Kotha Shiva Dhaneesh             (23AG1A6636)</a:t>
            </a:r>
          </a:p>
          <a:p>
            <a:pPr indent="-75351">
              <a:spcAft>
                <a:spcPts val="667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Kasiraju Dhatri Nandini          (23AG1A6630)</a:t>
            </a:r>
          </a:p>
          <a:p>
            <a:pPr indent="-75351">
              <a:spcAft>
                <a:spcPts val="667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</a:p>
          <a:p>
            <a:pPr indent="-75351" algn="r">
              <a:spcAft>
                <a:spcPts val="667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indent="-75351">
              <a:spcAft>
                <a:spcPts val="667"/>
              </a:spcAft>
            </a:pPr>
            <a:r>
              <a:rPr lang="en-US" sz="15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</a:p>
          <a:p>
            <a:pPr indent="-75351">
              <a:spcAft>
                <a:spcPts val="667"/>
              </a:spcAft>
            </a:pPr>
            <a:r>
              <a:rPr lang="en-US" sz="15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1500" b="1" dirty="0">
                <a:solidFill>
                  <a:srgbClr val="59595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</a:t>
            </a:r>
            <a:endParaRPr lang="en-IN" sz="1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9640" y="2618337"/>
            <a:ext cx="100373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Hybrid Quantum-Classical Framework for Intelligent Load Balancing”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/>
              <a:t> 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D114A-16BB-272F-7509-265E4C370D92}"/>
              </a:ext>
            </a:extLst>
          </p:cNvPr>
          <p:cNvSpPr txBox="1"/>
          <p:nvPr/>
        </p:nvSpPr>
        <p:spPr>
          <a:xfrm>
            <a:off x="2772698" y="1889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BDD5E-3316-70A5-36A0-CD03364333A7}"/>
              </a:ext>
            </a:extLst>
          </p:cNvPr>
          <p:cNvSpPr txBox="1"/>
          <p:nvPr/>
        </p:nvSpPr>
        <p:spPr>
          <a:xfrm>
            <a:off x="1037304" y="1635656"/>
            <a:ext cx="95667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distributed systems and cloud environments handle a large volume of user requests, making efficient load balancing essential for maintaining system performance and reliability. Traditional load balancing techniques often fail to adapt to real-time changes in server conditions, leading to inefficient resource utilization and increased response time.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intelligent load balancing systems are required that can dynamically analyze server conditions and make optimal decisions. The proposed system uses a hybrid quantum-classical approach to improve server selection and traffic distribution in real time.</a:t>
            </a:r>
          </a:p>
        </p:txBody>
      </p:sp>
    </p:spTree>
    <p:extLst>
      <p:ext uri="{BB962C8B-B14F-4D97-AF65-F5344CB8AC3E}">
        <p14:creationId xmlns:p14="http://schemas.microsoft.com/office/powerpoint/2010/main" val="401790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99361B-C5C2-B66C-DA6D-E3E81ADEC907}"/>
              </a:ext>
            </a:extLst>
          </p:cNvPr>
          <p:cNvSpPr txBox="1"/>
          <p:nvPr/>
        </p:nvSpPr>
        <p:spPr>
          <a:xfrm>
            <a:off x="2890684" y="2184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4E5F7-1CE3-267E-53E0-4AF7EF426159}"/>
              </a:ext>
            </a:extLst>
          </p:cNvPr>
          <p:cNvSpPr txBox="1"/>
          <p:nvPr/>
        </p:nvSpPr>
        <p:spPr>
          <a:xfrm>
            <a:off x="953728" y="1228397"/>
            <a:ext cx="95864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intelligent load balancing system based on a hybrid quantum-classical framework to efficiently distribute incoming requests across multiple servers. The system continuously monitors server parameters such as load, response time, and capacity, and applies a quantum-inspired optimization model to select the most optimal server.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incorporates queue management to handle overload conditions and ensures fault tolerance. An interactive dashboard provides real-time visualization of system performance, including server status, load distribution, and request logs. The proposed system improves efficiency, reduces latency, and enhances reliability in distributed environments.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Flask, HTML, CSS, JavaScript, Chart.js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Balancing, Distributed Systems, Optimization, Server Monitoring, Queue Management</a:t>
            </a:r>
          </a:p>
        </p:txBody>
      </p:sp>
    </p:spTree>
    <p:extLst>
      <p:ext uri="{BB962C8B-B14F-4D97-AF65-F5344CB8AC3E}">
        <p14:creationId xmlns:p14="http://schemas.microsoft.com/office/powerpoint/2010/main" val="76808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F9A1F-4CBA-7E6E-57A2-F0DD9EA74222}"/>
              </a:ext>
            </a:extLst>
          </p:cNvPr>
          <p:cNvSpPr txBox="1"/>
          <p:nvPr/>
        </p:nvSpPr>
        <p:spPr>
          <a:xfrm>
            <a:off x="3048000" y="8378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Paper 1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A36AC-6F8D-87A9-C6B2-66DF4EBDF14A}"/>
              </a:ext>
            </a:extLst>
          </p:cNvPr>
          <p:cNvSpPr txBox="1"/>
          <p:nvPr/>
        </p:nvSpPr>
        <p:spPr>
          <a:xfrm>
            <a:off x="3048000" y="1915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424D9-219B-D2B8-B2A0-813E76B71BDC}"/>
              </a:ext>
            </a:extLst>
          </p:cNvPr>
          <p:cNvSpPr txBox="1"/>
          <p:nvPr/>
        </p:nvSpPr>
        <p:spPr>
          <a:xfrm>
            <a:off x="1307690" y="1484220"/>
            <a:ext cx="861305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Load Balancing in Cloud Computing Using Machine Learning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Kumar, D. Patel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Cloud Computing (Scopus Indexed)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load balancing techniques fail to adapt to dynamic workloads, leading to inefficient resource utilization and increased response time in cloud environments.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/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machine learning models to predict server load Applies dynamic decision-making based on real-time data Utilizes historical workload patterns for optimization.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load distribution efficiency Reduces response time Enhances system scalability and adaptability.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large datasets for training Limited real-time adaptability in highly dynamic environments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444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E7716-2058-D862-1AF4-3B0C2F5E7417}"/>
              </a:ext>
            </a:extLst>
          </p:cNvPr>
          <p:cNvSpPr txBox="1"/>
          <p:nvPr/>
        </p:nvSpPr>
        <p:spPr>
          <a:xfrm>
            <a:off x="2812026" y="1103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Paper 2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8FDA-69B7-A75C-B89E-9BF036DD6BAE}"/>
              </a:ext>
            </a:extLst>
          </p:cNvPr>
          <p:cNvSpPr txBox="1"/>
          <p:nvPr/>
        </p:nvSpPr>
        <p:spPr>
          <a:xfrm>
            <a:off x="1317523" y="1275760"/>
            <a:ext cx="80722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Survey on Load Balancing Algorithms in Distributed Systems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Mishra, P. Dubey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Computer Science and Engineering (SCI Indexed)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load balancing algorithms lack flexibility and fail to handle real-time traffic fluctuations efficiently in distributed systems.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/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static and dynamic load balancing techniques Compares algorithms based on performance metrics such as throughput and latency Evaluates scalability and efficiency.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algorithms outperform static ones Identifies limitations in existing approaches Highlights need for intelligent load balancing.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hybrid approaches Limited focus on real-time optimization and adaptive systems.</a:t>
            </a:r>
          </a:p>
        </p:txBody>
      </p:sp>
    </p:spTree>
    <p:extLst>
      <p:ext uri="{BB962C8B-B14F-4D97-AF65-F5344CB8AC3E}">
        <p14:creationId xmlns:p14="http://schemas.microsoft.com/office/powerpoint/2010/main" val="331831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A8371B-5A1F-3921-BE78-45D5631988BF}"/>
              </a:ext>
            </a:extLst>
          </p:cNvPr>
          <p:cNvSpPr txBox="1"/>
          <p:nvPr/>
        </p:nvSpPr>
        <p:spPr>
          <a:xfrm>
            <a:off x="2812026" y="1791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Paper 3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7E393-BB22-DD15-990E-9BBA3F542761}"/>
              </a:ext>
            </a:extLst>
          </p:cNvPr>
          <p:cNvSpPr txBox="1"/>
          <p:nvPr/>
        </p:nvSpPr>
        <p:spPr>
          <a:xfrm>
            <a:off x="1661652" y="1207782"/>
            <a:ext cx="754134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Techniques for Resource Allocation in Distributed Systems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Lee, H. Kim, S. Park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 (Scopus &amp; SCI Indexed)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 resource allocation leads to server overload and poor system performance in distributed environments.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/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optimization techniques such as Genetic Algorithms and Particle Swarm Optimization Evaluates multiple parameters for decision-making Focuses on minimizing latency and maximizing resource utilization.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algorithms improve system efficiency Enhances decision-making accuracy Reduces server overload.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complexity Not suitable for real-time applications without simplification.</a:t>
            </a:r>
          </a:p>
        </p:txBody>
      </p:sp>
    </p:spTree>
    <p:extLst>
      <p:ext uri="{BB962C8B-B14F-4D97-AF65-F5344CB8AC3E}">
        <p14:creationId xmlns:p14="http://schemas.microsoft.com/office/powerpoint/2010/main" val="237601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2CF95-3098-D4AF-D76E-82B98DC56034}"/>
              </a:ext>
            </a:extLst>
          </p:cNvPr>
          <p:cNvSpPr txBox="1"/>
          <p:nvPr/>
        </p:nvSpPr>
        <p:spPr>
          <a:xfrm>
            <a:off x="2920181" y="1692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Paper 4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5D961-A022-534A-74FA-184176DC3F05}"/>
              </a:ext>
            </a:extLst>
          </p:cNvPr>
          <p:cNvSpPr txBox="1"/>
          <p:nvPr/>
        </p:nvSpPr>
        <p:spPr>
          <a:xfrm>
            <a:off x="1504335" y="1382286"/>
            <a:ext cx="810178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Quantum-Inspired Optimization for Load Balancing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Zhang, X. Liu, L. Chen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Computational Science (Scopus Indexed)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Classical optimization techniques struggle to solve complex load balancing problems efficiently in large-scale systems.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/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quantum-inspired algorithms for solving optimization problems Simultaneously evaluates multiple possible solutions Applies probabilistic decision-making techniques.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optimization efficiency Faster convergence compared to classical methods Suitable for complex distributed systems.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advanced computational models Limited real-world implementation and validation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072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A17077-FD0C-0DD1-34CE-521EB32F9058}"/>
              </a:ext>
            </a:extLst>
          </p:cNvPr>
          <p:cNvSpPr txBox="1"/>
          <p:nvPr/>
        </p:nvSpPr>
        <p:spPr>
          <a:xfrm>
            <a:off x="2861187" y="120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Paper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B2F44-ACB1-57F1-6D44-114BF59850CB}"/>
              </a:ext>
            </a:extLst>
          </p:cNvPr>
          <p:cNvSpPr txBox="1"/>
          <p:nvPr/>
        </p:nvSpPr>
        <p:spPr>
          <a:xfrm>
            <a:off x="1843547" y="1365183"/>
            <a:ext cx="81312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Load Balancing Using Artificial Intelligence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 Chen, Y. Wang, Z. Li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Artificial Intelligence Research (Scopus Indexed)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load balancing systems lack intelligence and cannot adapt to changing workloads and system conditions.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/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AI techniques for decision-making Uses real-time monitoring and predictive analysis Applies intelligent routing mechanisms.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system performance and reliability Reduces latency and improves resource utilization Enables adaptive and intelligent systems.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Complexity in implementation Requires continuous monitoring and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4509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17456E-0275-75E2-DAB5-A0BEA989AFDF}"/>
              </a:ext>
            </a:extLst>
          </p:cNvPr>
          <p:cNvSpPr txBox="1"/>
          <p:nvPr/>
        </p:nvSpPr>
        <p:spPr>
          <a:xfrm>
            <a:off x="3048000" y="21845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03801-A4B4-A14F-F4F6-4F89C813C469}"/>
              </a:ext>
            </a:extLst>
          </p:cNvPr>
          <p:cNvSpPr txBox="1"/>
          <p:nvPr/>
        </p:nvSpPr>
        <p:spPr>
          <a:xfrm>
            <a:off x="1573160" y="1228397"/>
            <a:ext cx="71873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load balancing techniques such as Round Robin and Least Connections are used to distribute requests across servers.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simple dynamic algorithms without real-time intelligence.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are distributed sequentially or based on simple metrics without considering multiple parameters.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Cannot adapt to real-time server conditions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Inefficient resource utilization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Higher response time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fault tolerance mechanism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scalability</a:t>
            </a:r>
          </a:p>
        </p:txBody>
      </p:sp>
    </p:spTree>
    <p:extLst>
      <p:ext uri="{BB962C8B-B14F-4D97-AF65-F5344CB8AC3E}">
        <p14:creationId xmlns:p14="http://schemas.microsoft.com/office/powerpoint/2010/main" val="289078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BA6A8E-08F6-EBAB-2675-D76B704ED108}"/>
              </a:ext>
            </a:extLst>
          </p:cNvPr>
          <p:cNvSpPr txBox="1"/>
          <p:nvPr/>
        </p:nvSpPr>
        <p:spPr>
          <a:xfrm>
            <a:off x="3048000" y="8849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8680B-4496-7E56-D35E-FB85F47EB4F3}"/>
              </a:ext>
            </a:extLst>
          </p:cNvPr>
          <p:cNvSpPr txBox="1"/>
          <p:nvPr/>
        </p:nvSpPr>
        <p:spPr>
          <a:xfrm>
            <a:off x="1317522" y="766732"/>
            <a:ext cx="887852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system that uses real-time monitoring and quantum-inspired optimization to select the best server dynamically.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Load monitoring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Weighted optimization model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routing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Queue management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request → System monitors server parameters → Optimization algorithm selects best server → Request routed → Logs updated → Dashboard visualized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load distribution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response time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monitoring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Fault tolerance using queue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and adaptive</a:t>
            </a:r>
          </a:p>
        </p:txBody>
      </p:sp>
    </p:spTree>
    <p:extLst>
      <p:ext uri="{BB962C8B-B14F-4D97-AF65-F5344CB8AC3E}">
        <p14:creationId xmlns:p14="http://schemas.microsoft.com/office/powerpoint/2010/main" val="3786849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C8F457-06F5-3342-DD88-9A084A03252D}"/>
              </a:ext>
            </a:extLst>
          </p:cNvPr>
          <p:cNvSpPr txBox="1"/>
          <p:nvPr/>
        </p:nvSpPr>
        <p:spPr>
          <a:xfrm>
            <a:off x="3048000" y="1889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FC985-03C0-5F41-DABF-8B8A0FF53EF6}"/>
              </a:ext>
            </a:extLst>
          </p:cNvPr>
          <p:cNvSpPr txBox="1"/>
          <p:nvPr/>
        </p:nvSpPr>
        <p:spPr>
          <a:xfrm>
            <a:off x="1032387" y="1270167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Core i3/i5 or above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 (8 GB recommended)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Minimum 10 GB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Network: Stable internet connection</a:t>
            </a:r>
          </a:p>
          <a:p>
            <a:pPr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Operating System: Windows 10 / 11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Backend: Python (Flask)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HTML, CSS, JavaScript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Libraries: Chart.js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Tools: VS Code, Git/GitHub</a:t>
            </a:r>
          </a:p>
        </p:txBody>
      </p:sp>
    </p:spTree>
    <p:extLst>
      <p:ext uri="{BB962C8B-B14F-4D97-AF65-F5344CB8AC3E}">
        <p14:creationId xmlns:p14="http://schemas.microsoft.com/office/powerpoint/2010/main" val="338619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E185D-715C-16A2-28AE-FD71BFABEE3D}"/>
              </a:ext>
            </a:extLst>
          </p:cNvPr>
          <p:cNvSpPr txBox="1"/>
          <p:nvPr/>
        </p:nvSpPr>
        <p:spPr>
          <a:xfrm>
            <a:off x="2852417" y="12996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200" u="sng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CE65AF3E-3860-8F87-C0BA-C23D52CDC8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86" y="943002"/>
            <a:ext cx="7824353" cy="4971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363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404FA-1DE1-0233-BA80-8E0276262103}"/>
              </a:ext>
            </a:extLst>
          </p:cNvPr>
          <p:cNvSpPr txBox="1"/>
          <p:nvPr/>
        </p:nvSpPr>
        <p:spPr>
          <a:xfrm>
            <a:off x="1632155" y="1229997"/>
            <a:ext cx="8475406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help visualize a system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They show the structure and working of a system in a clear graphical form.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planning software design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Developers use UML to understand components and relationships before coding.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UML diagrams exist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Examples include use case, class, sequence, and activity diagrams.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UML diagrams make it easier for team members to understand the system design.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documentation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They provide proper system documentation for future development and maintenance.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1F203-BF64-DE9E-0E48-1347CE5F93A8}"/>
              </a:ext>
            </a:extLst>
          </p:cNvPr>
          <p:cNvSpPr txBox="1"/>
          <p:nvPr/>
        </p:nvSpPr>
        <p:spPr>
          <a:xfrm>
            <a:off x="2821858" y="1466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600" u="sng" dirty="0"/>
          </a:p>
        </p:txBody>
      </p:sp>
    </p:spTree>
    <p:extLst>
      <p:ext uri="{BB962C8B-B14F-4D97-AF65-F5344CB8AC3E}">
        <p14:creationId xmlns:p14="http://schemas.microsoft.com/office/powerpoint/2010/main" val="380634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6F9BCC-1847-456B-9E88-5105BF4BA3E7}"/>
              </a:ext>
            </a:extLst>
          </p:cNvPr>
          <p:cNvSpPr txBox="1"/>
          <p:nvPr/>
        </p:nvSpPr>
        <p:spPr>
          <a:xfrm>
            <a:off x="2723536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DD73E-5E4E-A337-F5A2-81B915619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416" y="1076141"/>
            <a:ext cx="5730240" cy="5059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36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C49CB-2123-125E-638E-E8F7CB33D978}"/>
              </a:ext>
            </a:extLst>
          </p:cNvPr>
          <p:cNvSpPr txBox="1"/>
          <p:nvPr/>
        </p:nvSpPr>
        <p:spPr>
          <a:xfrm>
            <a:off x="2677937" y="1299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84B8B-9601-8DD8-CF82-66C8592C72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456" y="1329933"/>
            <a:ext cx="8266963" cy="43826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201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F782D7-1245-D7B7-5A59-ADD5D301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844" y="1122720"/>
            <a:ext cx="6727477" cy="50161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1A0D5A-04A6-4D60-8956-D4E68460C37E}"/>
              </a:ext>
            </a:extLst>
          </p:cNvPr>
          <p:cNvSpPr txBox="1"/>
          <p:nvPr/>
        </p:nvSpPr>
        <p:spPr>
          <a:xfrm>
            <a:off x="2694039" y="2220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16960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77A4FF-AFB9-0671-23A3-4A0E752BA2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610" y="1325264"/>
            <a:ext cx="7914780" cy="39779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96E288-B5BF-9DD6-D368-B37B9139177C}"/>
              </a:ext>
            </a:extLst>
          </p:cNvPr>
          <p:cNvSpPr txBox="1"/>
          <p:nvPr/>
        </p:nvSpPr>
        <p:spPr>
          <a:xfrm>
            <a:off x="3048000" y="1496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66520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6CB5F0-C642-97A6-E204-E48A377E9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89" y="1510112"/>
            <a:ext cx="6972422" cy="41019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5EF614-5720-4728-77CC-DB3DCC7C0EDF}"/>
              </a:ext>
            </a:extLst>
          </p:cNvPr>
          <p:cNvSpPr txBox="1"/>
          <p:nvPr/>
        </p:nvSpPr>
        <p:spPr>
          <a:xfrm>
            <a:off x="3048000" y="30694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5769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0">
            <a:extLst>
              <a:ext uri="{FF2B5EF4-FFF2-40B4-BE49-F238E27FC236}">
                <a16:creationId xmlns:a16="http://schemas.microsoft.com/office/drawing/2014/main" id="{DCE53755-3C2A-764E-47A4-EB4CDD35EC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976" y="1430850"/>
            <a:ext cx="6564047" cy="44193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EC9414-B301-6216-8A03-37F825022813}"/>
              </a:ext>
            </a:extLst>
          </p:cNvPr>
          <p:cNvSpPr txBox="1"/>
          <p:nvPr/>
        </p:nvSpPr>
        <p:spPr>
          <a:xfrm>
            <a:off x="3047999" y="31677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94812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3C583-6455-5E7D-A65E-1C224B7517D4}"/>
              </a:ext>
            </a:extLst>
          </p:cNvPr>
          <p:cNvSpPr txBox="1"/>
          <p:nvPr/>
        </p:nvSpPr>
        <p:spPr>
          <a:xfrm>
            <a:off x="3048000" y="975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  <a:endParaRPr lang="en-IN" sz="36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59155-0010-5064-42C4-441164E1A932}"/>
              </a:ext>
            </a:extLst>
          </p:cNvPr>
          <p:cNvSpPr txBox="1"/>
          <p:nvPr/>
        </p:nvSpPr>
        <p:spPr>
          <a:xfrm>
            <a:off x="688259" y="1166842"/>
            <a:ext cx="996991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Required Libraries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begins by importing necessary libraries required for web development, data handling, and simulation.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flask import Flask,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render_template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jsonify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Flask framework is used to create the web application, while the random module is used to simulate dynamic server conditions.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6.1.2 Initializing Flask Application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Flask application is initialized to create the backend server.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= Flask(__name__)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object is used to define routes and manage the application.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620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6EE4D6-AA33-744B-A364-3E76A1855CA3}"/>
              </a:ext>
            </a:extLst>
          </p:cNvPr>
          <p:cNvSpPr txBox="1"/>
          <p:nvPr/>
        </p:nvSpPr>
        <p:spPr>
          <a:xfrm>
            <a:off x="501445" y="176687"/>
            <a:ext cx="109433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6.1.3 Server Initialization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simulates multiple servers with different configurations such as capacity, type, and status.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= [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{"id": "Server1", "type": "High Performance", "capacity": 120, "status": "active"},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{"id": "Server2", "type": "Standard", "capacity": 100, "status": "active"},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{"id": "Server3", "type": "Edge", "capacity": 80, "status": "active"}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server is represented as a dictionary containing its properties.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6.1.4 Load Monitoring Function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dynamically updates server parameters such as load, response time, and status.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server in servers: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server["load"]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random.randint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(10, 100)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server["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response_time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random.randint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(50, 150)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server["load"] &gt; 75: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server["status"] = "down"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server["load"] &gt; 50: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server["status"] = "busy"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server["status"] = "active"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servers</a:t>
            </a:r>
          </a:p>
        </p:txBody>
      </p:sp>
    </p:spTree>
    <p:extLst>
      <p:ext uri="{BB962C8B-B14F-4D97-AF65-F5344CB8AC3E}">
        <p14:creationId xmlns:p14="http://schemas.microsoft.com/office/powerpoint/2010/main" val="2554162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DE42DF-5D06-5FC2-D5BC-03FC87FB26CF}"/>
              </a:ext>
            </a:extLst>
          </p:cNvPr>
          <p:cNvSpPr txBox="1"/>
          <p:nvPr/>
        </p:nvSpPr>
        <p:spPr>
          <a:xfrm>
            <a:off x="1" y="0"/>
            <a:ext cx="11041626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8800">
              <a:lnSpc>
                <a:spcPct val="150000"/>
              </a:lnSpc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6.1.5 Optimization Function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7080" marR="502920" algn="just">
              <a:lnSpc>
                <a:spcPct val="150000"/>
              </a:lnSpc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optimization module selects the best server based on multiple parameters.</a:t>
            </a:r>
          </a:p>
          <a:p>
            <a:pPr marL="767080" marR="502920">
              <a:lnSpc>
                <a:spcPct val="150000"/>
              </a:lnSpc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optimize_server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(servers):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active_servers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[s for s in servers if s["status"] != "down"]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if not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active_servers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return None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def score(s):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return 0.5 * s["load"] + 0.3 * s["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response_time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"]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return min(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active_servers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key=score)</a:t>
            </a:r>
          </a:p>
          <a:p>
            <a:pPr marL="767080" marR="502920" algn="just">
              <a:lnSpc>
                <a:spcPct val="150000"/>
              </a:lnSpc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function ensures intelligent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08418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38BDA-0142-A90C-826E-C04706445F44}"/>
              </a:ext>
            </a:extLst>
          </p:cNvPr>
          <p:cNvSpPr txBox="1"/>
          <p:nvPr/>
        </p:nvSpPr>
        <p:spPr>
          <a:xfrm>
            <a:off x="3962400" y="197944"/>
            <a:ext cx="3864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00BF8-DDD1-B9F9-3815-424E391C611A}"/>
              </a:ext>
            </a:extLst>
          </p:cNvPr>
          <p:cNvSpPr txBox="1"/>
          <p:nvPr/>
        </p:nvSpPr>
        <p:spPr>
          <a:xfrm>
            <a:off x="1238865" y="1267061"/>
            <a:ext cx="852456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Preprocessing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real-time server data collected from multiple servers in a distributed environment. The data includes parameters such as load percentage, response time, and number of requests. This data is continuously updated to simulate real-world system behavior. The preprocessing stage includes: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Removing invalid or missing values from server data.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Standardizing load and response time values for fair comparison.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Selecting key parameters such as load, response time, and request count.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Eliminating unnecessary fluctuations in data.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is stored in structured format for further analysis.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30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E18AA4-3906-7300-255E-7BDAD4D221B3}"/>
              </a:ext>
            </a:extLst>
          </p:cNvPr>
          <p:cNvSpPr txBox="1"/>
          <p:nvPr/>
        </p:nvSpPr>
        <p:spPr>
          <a:xfrm>
            <a:off x="2762864" y="1004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BCA34-8989-C99E-0A11-EBABB10C9528}"/>
              </a:ext>
            </a:extLst>
          </p:cNvPr>
          <p:cNvSpPr txBox="1"/>
          <p:nvPr/>
        </p:nvSpPr>
        <p:spPr>
          <a:xfrm>
            <a:off x="115529" y="885751"/>
            <a:ext cx="117053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follows a structured approach to achieve intelligent load balancing by integrating real-time monitoring, optimization, and routing mechanisms. The methodology is designed to dynamically analyze server conditions and ensure efficient distribution of incoming requests.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Request Generation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generated through the interface and sent to the backend system for processing.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Load Monitoring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server parameters such as load percentage, response time, and number of active requests. 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Data Preprocessing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server data is cleaned, normalized, and structured to ensure consistency. Key features such as load and response time are extracted for decision-making.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Optimization (Server Selection)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quantum-inspired weighted optimization algorithm is applied to evaluate all available servers. The system calculates a score based on load and response time and selects the server with the minimum score as the optimal server.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Request Routing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server receives the request, processes it, and returns the response. The system updates the request count and logs for tracking purposes.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Queue Management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servers are overloaded, incoming requests are temporarily stored in a queue. These requests are processed when servers become available, ensuring no data loss.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Visualization and Logging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updates the dashboard in real time, displaying server status, load distribution, and request logs through graphs and indicators.</a:t>
            </a:r>
          </a:p>
        </p:txBody>
      </p:sp>
    </p:spTree>
    <p:extLst>
      <p:ext uri="{BB962C8B-B14F-4D97-AF65-F5344CB8AC3E}">
        <p14:creationId xmlns:p14="http://schemas.microsoft.com/office/powerpoint/2010/main" val="4137374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8760E2-CC8F-DEF4-A4B1-E2E794890EA3}"/>
              </a:ext>
            </a:extLst>
          </p:cNvPr>
          <p:cNvSpPr txBox="1"/>
          <p:nvPr/>
        </p:nvSpPr>
        <p:spPr>
          <a:xfrm>
            <a:off x="2654709" y="120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1B9D9-2C14-3D9D-EDD8-A0CCBDBACDCB}"/>
              </a:ext>
            </a:extLst>
          </p:cNvPr>
          <p:cNvSpPr txBox="1"/>
          <p:nvPr/>
        </p:nvSpPr>
        <p:spPr>
          <a:xfrm>
            <a:off x="1730477" y="1605311"/>
            <a:ext cx="7089058" cy="3251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user requests by monitoring server conditions and selecting the most suitable server for efficient load distribution.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sends request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data (load, response time) is updated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evaluates all servers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server is selected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is processed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handles overload (if any)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and dashboard updated</a:t>
            </a:r>
          </a:p>
        </p:txBody>
      </p:sp>
    </p:spTree>
    <p:extLst>
      <p:ext uri="{BB962C8B-B14F-4D97-AF65-F5344CB8AC3E}">
        <p14:creationId xmlns:p14="http://schemas.microsoft.com/office/powerpoint/2010/main" val="2122651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9B6EB8-8FBD-8375-BFDA-650D43624FE9}"/>
              </a:ext>
            </a:extLst>
          </p:cNvPr>
          <p:cNvSpPr txBox="1"/>
          <p:nvPr/>
        </p:nvSpPr>
        <p:spPr>
          <a:xfrm>
            <a:off x="2930012" y="1684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  <a:endParaRPr lang="en-IN" sz="36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F3949-178A-2619-21ED-9004E7F2C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90" y="924110"/>
            <a:ext cx="10704819" cy="48080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FFC693-D582-44EA-F800-592FC4D5320C}"/>
              </a:ext>
            </a:extLst>
          </p:cNvPr>
          <p:cNvSpPr txBox="1"/>
          <p:nvPr/>
        </p:nvSpPr>
        <p:spPr>
          <a:xfrm>
            <a:off x="2517056" y="58415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39495" indent="-228600" algn="ctr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6.1 Initial system state before request execution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062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026F42-D274-4081-BC52-537E14C2D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12" y="444097"/>
            <a:ext cx="11176376" cy="53680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4C177-808B-7B14-E49F-5FE7D943770D}"/>
              </a:ext>
            </a:extLst>
          </p:cNvPr>
          <p:cNvSpPr txBox="1"/>
          <p:nvPr/>
        </p:nvSpPr>
        <p:spPr>
          <a:xfrm>
            <a:off x="3195484" y="59203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272034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6.2 Request generation in the system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40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E30063-2855-525E-F6CC-1A35355E3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40" y="441469"/>
            <a:ext cx="2807145" cy="42190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75C8A-BE53-094A-9251-C333A978EF16}"/>
              </a:ext>
            </a:extLst>
          </p:cNvPr>
          <p:cNvSpPr txBox="1"/>
          <p:nvPr/>
        </p:nvSpPr>
        <p:spPr>
          <a:xfrm>
            <a:off x="-280096" y="4731463"/>
            <a:ext cx="47194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6.3 Optimal server selected by the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55341-B95E-473E-6FB2-C509C9888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931" y="404844"/>
            <a:ext cx="6218289" cy="25145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408FA-A38B-F9B2-69C4-AD82DEB2E56F}"/>
              </a:ext>
            </a:extLst>
          </p:cNvPr>
          <p:cNvSpPr txBox="1"/>
          <p:nvPr/>
        </p:nvSpPr>
        <p:spPr>
          <a:xfrm>
            <a:off x="3810000" y="2919393"/>
            <a:ext cx="6322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6.4 Graphical representation of server load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847D7A-C7BF-A3B9-7BD3-365E60817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161" y="3622450"/>
            <a:ext cx="3131820" cy="248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F9A672-4F86-70C9-45CF-69D3A8E74CF9}"/>
              </a:ext>
            </a:extLst>
          </p:cNvPr>
          <p:cNvSpPr txBox="1"/>
          <p:nvPr/>
        </p:nvSpPr>
        <p:spPr>
          <a:xfrm>
            <a:off x="8023123" y="4731463"/>
            <a:ext cx="4739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277368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6.5 System logs showing request </a:t>
            </a:r>
          </a:p>
          <a:p>
            <a:pPr algn="ctr">
              <a:buNone/>
              <a:tabLst>
                <a:tab pos="277368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routing details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78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34EF6-7E35-382E-F525-EE8A663540AC}"/>
              </a:ext>
            </a:extLst>
          </p:cNvPr>
          <p:cNvSpPr txBox="1"/>
          <p:nvPr/>
        </p:nvSpPr>
        <p:spPr>
          <a:xfrm>
            <a:off x="2133600" y="2076754"/>
            <a:ext cx="7924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latin typeface="Arial Rounded MT Bold" panose="020F0704030504030204" pitchFamily="34" charset="0"/>
              </a:rPr>
              <a:t>THANK YOU</a:t>
            </a:r>
            <a:endParaRPr lang="en-IN" sz="9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6336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395</TotalTime>
  <Words>2232</Words>
  <Application>Microsoft Office PowerPoint</Application>
  <PresentationFormat>Widescreen</PresentationFormat>
  <Paragraphs>148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 Rounded MT Bold</vt:lpstr>
      <vt:lpstr>Calibri</vt:lpstr>
      <vt:lpstr>Calibri Light</vt:lpstr>
      <vt:lpstr>Sora Medium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Failure Pattern Detection from System Logs Using ML</dc:title>
  <dc:creator>sree varnitha</dc:creator>
  <cp:lastModifiedBy>Bhargava Kasiraju</cp:lastModifiedBy>
  <cp:revision>11</cp:revision>
  <dcterms:created xsi:type="dcterms:W3CDTF">2026-01-19T16:46:30Z</dcterms:created>
  <dcterms:modified xsi:type="dcterms:W3CDTF">2026-04-12T14:03:56Z</dcterms:modified>
</cp:coreProperties>
</file>